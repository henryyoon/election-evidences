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78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1371600"/>
            <a:ext cx="146304" cy="146304"/>
          </a:xfrm>
          <a:prstGeom prst="ellipse">
            <a:avLst/>
          </a:prstGeom>
          <a:solidFill>
            <a:srgbClr val="4A90A4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424160" y="1828800"/>
            <a:ext cx="192024" cy="192024"/>
          </a:xfrm>
          <a:prstGeom prst="ellipse">
            <a:avLst/>
          </a:prstGeom>
          <a:solidFill>
            <a:srgbClr val="4A90A4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692640" y="2103120"/>
            <a:ext cx="237744" cy="237744"/>
          </a:xfrm>
          <a:prstGeom prst="ellipse">
            <a:avLst/>
          </a:prstGeom>
          <a:solidFill>
            <a:srgbClr val="4A90A4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698480" y="2468880"/>
            <a:ext cx="146304" cy="146304"/>
          </a:xfrm>
          <a:prstGeom prst="ellipse">
            <a:avLst/>
          </a:prstGeom>
          <a:solidFill>
            <a:srgbClr val="4A90A4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149840" y="2743200"/>
            <a:ext cx="192024" cy="192024"/>
          </a:xfrm>
          <a:prstGeom prst="ellipse">
            <a:avLst/>
          </a:prstGeom>
          <a:solidFill>
            <a:srgbClr val="4A90A4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09760" y="3108960"/>
            <a:ext cx="237744" cy="237744"/>
          </a:xfrm>
          <a:prstGeom prst="ellipse">
            <a:avLst/>
          </a:prstGeom>
          <a:solidFill>
            <a:srgbClr val="4A90A4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881360" y="3291840"/>
            <a:ext cx="146304" cy="146304"/>
          </a:xfrm>
          <a:prstGeom prst="ellipse">
            <a:avLst/>
          </a:prstGeom>
          <a:solidFill>
            <a:srgbClr val="4A90A4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332720" y="3566160"/>
            <a:ext cx="192024" cy="192024"/>
          </a:xfrm>
          <a:prstGeom prst="ellipse">
            <a:avLst/>
          </a:prstGeom>
          <a:solidFill>
            <a:srgbClr val="4A90A4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0" y="3931920"/>
            <a:ext cx="237744" cy="237744"/>
          </a:xfrm>
          <a:prstGeom prst="ellipse">
            <a:avLst/>
          </a:prstGeom>
          <a:solidFill>
            <a:srgbClr val="4A90A4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607040" y="4206240"/>
            <a:ext cx="146304" cy="146304"/>
          </a:xfrm>
          <a:prstGeom prst="ellipse">
            <a:avLst/>
          </a:prstGeom>
          <a:solidFill>
            <a:srgbClr val="4A90A4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601200" y="4572000"/>
            <a:ext cx="192024" cy="192024"/>
          </a:xfrm>
          <a:prstGeom prst="ellipse">
            <a:avLst/>
          </a:prstGeom>
          <a:solidFill>
            <a:srgbClr val="4A90A4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149840" y="4846320"/>
            <a:ext cx="237744" cy="237744"/>
          </a:xfrm>
          <a:prstGeom prst="ellipse">
            <a:avLst/>
          </a:prstGeom>
          <a:solidFill>
            <a:srgbClr val="4A90A4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784080" y="1508760"/>
            <a:ext cx="777240" cy="1005840"/>
          </a:xfrm>
          <a:prstGeom prst="line">
            <a:avLst/>
          </a:prstGeom>
          <a:noFill/>
          <a:ln w="9525">
            <a:solidFill>
              <a:srgbClr val="4A90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241280" y="2834640"/>
            <a:ext cx="0" cy="1188720"/>
          </a:xfrm>
          <a:prstGeom prst="line">
            <a:avLst/>
          </a:prstGeom>
          <a:noFill/>
          <a:ln w="9525">
            <a:solidFill>
              <a:srgbClr val="4A90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772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문서 v0.1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148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선거 증거 아카이브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77724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지도 기반 반응형 웹사이트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22960" y="4069080"/>
            <a:ext cx="2926080" cy="0"/>
          </a:xfrm>
          <a:prstGeom prst="line">
            <a:avLst/>
          </a:prstGeom>
          <a:noFill/>
          <a:ln w="1905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7724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정보구조(IA) · 화면정의서 · 데이터 모델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2026-07-05 · 초안(검토용)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만드는가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2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정의  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지도로 탐색하는, 검증 가능한 선거 증거 아카이브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대시보드가 아니라, 지역 단위로 증거를 모아 보여주는 정성적 기록 저장소.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68680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아카이브 우선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지도는 통계 히트맵이 아니라 아카이브를 탐색하는 내비게이션. 최종 콘텐츠는 증거 카드다.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320040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617720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177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밀도로 말한다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42062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위 강조는 값의 크기가 아니라 “증거가 얼마나 쌓였는가”(개수)를 나타낸다.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320040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366760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3667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가능성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66760" y="42062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증거만 등재하고 출처를 함께 노출해 “주장 모음”이 아닌 “기록”으로 신뢰를 담보한다.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INFORMATION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3단계 드릴다운 위계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234440" cy="932688"/>
          </a:xfrm>
          <a:prstGeom prst="roundRect">
            <a:avLst>
              <a:gd name="adj" fmla="val 5882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0" y="1783080"/>
            <a:ext cx="7955280" cy="932688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560320" y="191109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전국 지도 (랜딩)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0" y="2286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17개 광역 진입점 · 증거 밀도 표시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21308" y="2715768"/>
            <a:ext cx="237744" cy="164592"/>
          </a:xfrm>
          <a:prstGeom prst="ellipse">
            <a:avLst/>
          </a:prstGeom>
          <a:solidFill>
            <a:srgbClr val="D5DB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1234440" cy="932688"/>
          </a:xfrm>
          <a:prstGeom prst="roundRect">
            <a:avLst>
              <a:gd name="adj" fmla="val 5882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286000" y="2880360"/>
            <a:ext cx="7955280" cy="932688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560320" y="300837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광역 지도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3383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광역 내 시·군·구 진입점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21308" y="3813048"/>
            <a:ext cx="237744" cy="164592"/>
          </a:xfrm>
          <a:prstGeom prst="ellipse">
            <a:avLst/>
          </a:prstGeom>
          <a:solidFill>
            <a:srgbClr val="D5DB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1234440" cy="932688"/>
          </a:xfrm>
          <a:prstGeom prst="roundRect">
            <a:avLst>
              <a:gd name="adj" fmla="val 5882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2286000" y="3977640"/>
            <a:ext cx="7955280" cy="932688"/>
          </a:xfrm>
          <a:prstGeom prst="roundRect">
            <a:avLst>
              <a:gd name="adj" fmla="val 5882"/>
            </a:avLst>
          </a:prstGeom>
          <a:solidFill>
            <a:srgbClr val="EAF2F6"/>
          </a:solidFill>
          <a:ln w="19050">
            <a:solidFill>
              <a:srgbClr val="2C6E8F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560320" y="410565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기초 상세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60320" y="4480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 카드 집적 + 투표소 마커  ★ 콘텐츠 종착점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21308" y="4910328"/>
            <a:ext cx="237744" cy="164592"/>
          </a:xfrm>
          <a:prstGeom prst="ellipse">
            <a:avLst/>
          </a:prstGeom>
          <a:solidFill>
            <a:srgbClr val="D5DB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22960" y="5074920"/>
            <a:ext cx="1234440" cy="932688"/>
          </a:xfrm>
          <a:prstGeom prst="roundRect">
            <a:avLst>
              <a:gd name="adj" fmla="val 5882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22960" y="5074920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2286000" y="5074920"/>
            <a:ext cx="7955280" cy="932688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560320" y="520293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증거 상세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560320" y="5577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증거 전체 뷰 (원본·메타데이터·출처)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012680" y="1783080"/>
            <a:ext cx="1600200" cy="4114800"/>
          </a:xfrm>
          <a:prstGeom prst="roundRect">
            <a:avLst>
              <a:gd name="adj" fmla="val 3429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014984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49840" y="2331720"/>
            <a:ext cx="1371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 카드는 L2(기초)에 집적된다. 투표소는 화면이 아니라 지도 마커 + 필터 축으로만 존재한다.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SCREEN · L2 기초 상세 (핵심)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데스크톱 — 지도 + 증거 패널 2단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15875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7004304" cy="292608"/>
          </a:xfrm>
          <a:prstGeom prst="rect">
            <a:avLst/>
          </a:prstGeom>
          <a:solidFill>
            <a:srgbClr val="E7EC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837944"/>
            <a:ext cx="100584" cy="100584"/>
          </a:xfrm>
          <a:prstGeom prst="ellipse">
            <a:avLst/>
          </a:prstGeom>
          <a:solidFill>
            <a:srgbClr val="C055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77824" y="1837944"/>
            <a:ext cx="100584" cy="100584"/>
          </a:xfrm>
          <a:prstGeom prst="ellipse">
            <a:avLst/>
          </a:prstGeom>
          <a:solidFill>
            <a:srgbClr val="D9A3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42416" y="1837944"/>
            <a:ext cx="100584" cy="100584"/>
          </a:xfrm>
          <a:prstGeom prst="ellipse">
            <a:avLst/>
          </a:prstGeom>
          <a:solidFill>
            <a:srgbClr val="3E9C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371600" y="17647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/map/seoul/gangnam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2157984"/>
            <a:ext cx="682142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04088" y="2157984"/>
            <a:ext cx="6729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 ›  서울  ›  강남구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2523744"/>
            <a:ext cx="1371600" cy="310896"/>
          </a:xfrm>
          <a:prstGeom prst="rect">
            <a:avLst/>
          </a:prstGeom>
          <a:solidFill>
            <a:srgbClr val="2C6E8F"/>
          </a:solidFill>
          <a:ln w="9525">
            <a:solidFill>
              <a:srgbClr val="2C6E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04088" y="25237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75688" y="2523744"/>
            <a:ext cx="1371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121408" y="25237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2944368"/>
            <a:ext cx="3547140" cy="3163824"/>
          </a:xfrm>
          <a:prstGeom prst="rect">
            <a:avLst/>
          </a:prstGeom>
          <a:solidFill>
            <a:srgbClr val="EAEFF5"/>
          </a:solidFill>
          <a:ln w="9525">
            <a:solidFill>
              <a:srgbClr val="D5DB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" y="3054096"/>
            <a:ext cx="3547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지도 + 투표소 마커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38528" y="4041648"/>
            <a:ext cx="201168" cy="201168"/>
          </a:xfrm>
          <a:prstGeom prst="ellipse">
            <a:avLst/>
          </a:prstGeom>
          <a:solidFill>
            <a:srgbClr val="2C6E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035808" y="4498848"/>
            <a:ext cx="201168" cy="201168"/>
          </a:xfrm>
          <a:prstGeom prst="ellipse">
            <a:avLst/>
          </a:prstGeom>
          <a:solidFill>
            <a:srgbClr val="4A90A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395728" y="5230368"/>
            <a:ext cx="201168" cy="201168"/>
          </a:xfrm>
          <a:prstGeom prst="ellipse">
            <a:avLst/>
          </a:prstGeom>
          <a:solidFill>
            <a:srgbClr val="2C6E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493008" y="5413248"/>
            <a:ext cx="201168" cy="201168"/>
          </a:xfrm>
          <a:prstGeom prst="ellipse">
            <a:avLst/>
          </a:prstGeom>
          <a:solidFill>
            <a:srgbClr val="4A90A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670048" y="4407408"/>
            <a:ext cx="201168" cy="201168"/>
          </a:xfrm>
          <a:prstGeom prst="ellipse">
            <a:avLst/>
          </a:prstGeom>
          <a:solidFill>
            <a:srgbClr val="2C6E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315236" y="2944368"/>
            <a:ext cx="3164556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360956" y="2944368"/>
            <a:ext cx="3073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필터: 유형 · 투표소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15236" y="3346704"/>
            <a:ext cx="3164556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406676" y="3438144"/>
            <a:ext cx="777240" cy="566928"/>
          </a:xfrm>
          <a:prstGeom prst="rect">
            <a:avLst/>
          </a:prstGeom>
          <a:solidFill>
            <a:srgbClr val="DDE4EC"/>
          </a:solidFill>
          <a:ln w="9525">
            <a:solidFill>
              <a:srgbClr val="DD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452396" y="343814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썸네일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75356" y="3438144"/>
            <a:ext cx="2067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 제목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75356" y="3675888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275356" y="3675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75356" y="3877056"/>
            <a:ext cx="2067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투표소명 · 2026-06-03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315236" y="4224528"/>
            <a:ext cx="3164556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406676" y="4315968"/>
            <a:ext cx="777240" cy="566928"/>
          </a:xfrm>
          <a:prstGeom prst="rect">
            <a:avLst/>
          </a:prstGeom>
          <a:solidFill>
            <a:srgbClr val="DDE4EC"/>
          </a:solidFill>
          <a:ln w="9525">
            <a:solidFill>
              <a:srgbClr val="DD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452396" y="431596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썸네일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75356" y="4315968"/>
            <a:ext cx="2067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 제목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75356" y="4553712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275356" y="45537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75356" y="4754880"/>
            <a:ext cx="2067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투표소명 · 2026-06-03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315236" y="5102352"/>
            <a:ext cx="3164556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406676" y="5193792"/>
            <a:ext cx="777240" cy="566928"/>
          </a:xfrm>
          <a:prstGeom prst="rect">
            <a:avLst/>
          </a:prstGeom>
          <a:solidFill>
            <a:srgbClr val="DDE4EC"/>
          </a:solidFill>
          <a:ln w="9525">
            <a:solidFill>
              <a:srgbClr val="DD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452396" y="519379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썸네일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75356" y="5193792"/>
            <a:ext cx="2067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 제목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75356" y="5431536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275356" y="54315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75356" y="5632704"/>
            <a:ext cx="2067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투표소명 · 2026-06-03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818120" y="17830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구성 &amp; 인터랙션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818120" y="2231136"/>
            <a:ext cx="128016" cy="128016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8055864" y="2148840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 · 증거/통계 탭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055864" y="2423160"/>
            <a:ext cx="3557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기본은 증거 탭(아카이브). 통계 탭은 선택적으로 지역 지표를 연다(7페이지 참조).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818120" y="3163824"/>
            <a:ext cx="128016" cy="128016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055864" y="308152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 · 기초 지도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055864" y="3355848"/>
            <a:ext cx="3557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투표소 마커를 증거 유형별 아이콘으로 표시. 마커 hover→투표소명·건수, 클릭→우측 목록 필터.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818120" y="4096512"/>
            <a:ext cx="128016" cy="128016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8055864" y="4014216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 · 필터 바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055864" y="4288536"/>
            <a:ext cx="3557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 유형(사진/영상/문서/증언) · 투표소로 카드 목록 실시간 필터.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818120" y="5029200"/>
            <a:ext cx="128016" cy="128016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8055864" y="4946904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 · 증거 카드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055864" y="5221224"/>
            <a:ext cx="3557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썸네일+제목+유형 배지+일시. 카드 클릭 → L3 증거 상세.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RESPONSIVE · MOBILE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모바일 — 지도 우선 + Bottom 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1965960" cy="3977640"/>
          </a:xfrm>
          <a:prstGeom prst="roundRect">
            <a:avLst>
              <a:gd name="adj" fmla="val 6512"/>
            </a:avLst>
          </a:prstGeom>
          <a:solidFill>
            <a:srgbClr val="E9EEF4"/>
          </a:solidFill>
          <a:ln w="19050">
            <a:solidFill>
              <a:srgbClr val="3B4A6B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0" y="1965960"/>
            <a:ext cx="1965960" cy="3977640"/>
          </a:xfrm>
          <a:prstGeom prst="roundRect">
            <a:avLst>
              <a:gd name="adj" fmla="val 6512"/>
            </a:avLst>
          </a:prstGeom>
          <a:solidFill>
            <a:srgbClr val="E9EEF4"/>
          </a:solidFill>
          <a:ln w="19050">
            <a:solidFill>
              <a:srgbClr val="3B4A6B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0" y="1965960"/>
            <a:ext cx="1965960" cy="3977640"/>
          </a:xfrm>
          <a:prstGeom prst="roundRect">
            <a:avLst>
              <a:gd name="adj" fmla="val 6512"/>
            </a:avLst>
          </a:prstGeom>
          <a:solidFill>
            <a:srgbClr val="E9EEF4"/>
          </a:solidFill>
          <a:ln w="19050">
            <a:solidFill>
              <a:srgbClr val="3B4A6B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17320" y="2651760"/>
            <a:ext cx="146304" cy="146304"/>
          </a:xfrm>
          <a:prstGeom prst="ellipse">
            <a:avLst/>
          </a:prstGeom>
          <a:solidFill>
            <a:srgbClr val="2C6E8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057400" y="2880360"/>
            <a:ext cx="146304" cy="146304"/>
          </a:xfrm>
          <a:prstGeom prst="ellipse">
            <a:avLst/>
          </a:prstGeom>
          <a:solidFill>
            <a:srgbClr val="C0554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69264" y="5307178"/>
            <a:ext cx="1856232" cy="636422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696212" y="5389474"/>
            <a:ext cx="402336" cy="64008"/>
          </a:xfrm>
          <a:prstGeom prst="roundRect">
            <a:avLst>
              <a:gd name="adj" fmla="val 50000"/>
            </a:avLst>
          </a:prstGeom>
          <a:solidFill>
            <a:srgbClr val="C4C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550834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 12건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6080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접힘 (peek)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6400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최대. 시트는 손잡이 + “증거 N건” 요약만.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03320" y="2651760"/>
            <a:ext cx="146304" cy="146304"/>
          </a:xfrm>
          <a:prstGeom prst="ellipse">
            <a:avLst/>
          </a:prstGeom>
          <a:solidFill>
            <a:srgbClr val="2C6E8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343400" y="2880360"/>
            <a:ext cx="146304" cy="146304"/>
          </a:xfrm>
          <a:prstGeom prst="ellipse">
            <a:avLst/>
          </a:prstGeom>
          <a:solidFill>
            <a:srgbClr val="C0554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255264" y="3954780"/>
            <a:ext cx="1856232" cy="1988820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982212" y="4037076"/>
            <a:ext cx="402336" cy="64008"/>
          </a:xfrm>
          <a:prstGeom prst="roundRect">
            <a:avLst>
              <a:gd name="adj" fmla="val 50000"/>
            </a:avLst>
          </a:prstGeom>
          <a:solidFill>
            <a:srgbClr val="C4C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364992" y="4155948"/>
            <a:ext cx="818388" cy="237744"/>
          </a:xfrm>
          <a:prstGeom prst="rect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364992" y="4155948"/>
            <a:ext cx="8183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83380" y="4155948"/>
            <a:ext cx="81838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183380" y="4155948"/>
            <a:ext cx="8183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4521708"/>
            <a:ext cx="1636776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5DB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438144" y="4585716"/>
            <a:ext cx="274320" cy="256032"/>
          </a:xfrm>
          <a:prstGeom prst="rect">
            <a:avLst/>
          </a:prstGeom>
          <a:solidFill>
            <a:srgbClr val="DDE4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785616" y="4613148"/>
            <a:ext cx="1097280" cy="73152"/>
          </a:xfrm>
          <a:prstGeom prst="rect">
            <a:avLst/>
          </a:prstGeom>
          <a:solidFill>
            <a:srgbClr val="C4C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785616" y="4741164"/>
            <a:ext cx="658368" cy="54864"/>
          </a:xfrm>
          <a:prstGeom prst="rect">
            <a:avLst/>
          </a:prstGeom>
          <a:solidFill>
            <a:srgbClr val="D8DE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364992" y="4978908"/>
            <a:ext cx="1636776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5DB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438144" y="5042916"/>
            <a:ext cx="274320" cy="256032"/>
          </a:xfrm>
          <a:prstGeom prst="rect">
            <a:avLst/>
          </a:prstGeom>
          <a:solidFill>
            <a:srgbClr val="DDE4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785616" y="5070348"/>
            <a:ext cx="1097280" cy="73152"/>
          </a:xfrm>
          <a:prstGeom prst="rect">
            <a:avLst/>
          </a:prstGeom>
          <a:solidFill>
            <a:srgbClr val="C4C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785616" y="5198364"/>
            <a:ext cx="658368" cy="54864"/>
          </a:xfrm>
          <a:prstGeom prst="rect">
            <a:avLst/>
          </a:prstGeom>
          <a:solidFill>
            <a:srgbClr val="D8DE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108960" y="6080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(half)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71800" y="6400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상단 절반 + 카드 목록 스크롤. 기본 상태.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7784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89320" y="2651760"/>
            <a:ext cx="146304" cy="146304"/>
          </a:xfrm>
          <a:prstGeom prst="ellipse">
            <a:avLst/>
          </a:prstGeom>
          <a:solidFill>
            <a:srgbClr val="2C6E8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629400" y="2880360"/>
            <a:ext cx="146304" cy="146304"/>
          </a:xfrm>
          <a:prstGeom prst="ellipse">
            <a:avLst/>
          </a:prstGeom>
          <a:solidFill>
            <a:srgbClr val="C0554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5541264" y="2522830"/>
            <a:ext cx="1856232" cy="3420770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268212" y="2605126"/>
            <a:ext cx="402336" cy="64008"/>
          </a:xfrm>
          <a:prstGeom prst="roundRect">
            <a:avLst>
              <a:gd name="adj" fmla="val 50000"/>
            </a:avLst>
          </a:prstGeom>
          <a:solidFill>
            <a:srgbClr val="C4C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650992" y="2723998"/>
            <a:ext cx="818388" cy="237744"/>
          </a:xfrm>
          <a:prstGeom prst="rect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650992" y="2723998"/>
            <a:ext cx="8183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69380" y="2723998"/>
            <a:ext cx="81838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469380" y="2723998"/>
            <a:ext cx="8183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50992" y="3089758"/>
            <a:ext cx="1636776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5DB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724144" y="3153766"/>
            <a:ext cx="274320" cy="256032"/>
          </a:xfrm>
          <a:prstGeom prst="rect">
            <a:avLst/>
          </a:prstGeom>
          <a:solidFill>
            <a:srgbClr val="DDE4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071616" y="3181198"/>
            <a:ext cx="1097280" cy="73152"/>
          </a:xfrm>
          <a:prstGeom prst="rect">
            <a:avLst/>
          </a:prstGeom>
          <a:solidFill>
            <a:srgbClr val="C4C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6071616" y="3309214"/>
            <a:ext cx="658368" cy="54864"/>
          </a:xfrm>
          <a:prstGeom prst="rect">
            <a:avLst/>
          </a:prstGeom>
          <a:solidFill>
            <a:srgbClr val="D8DE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5650992" y="3546958"/>
            <a:ext cx="1636776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5DB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724144" y="3610966"/>
            <a:ext cx="274320" cy="256032"/>
          </a:xfrm>
          <a:prstGeom prst="rect">
            <a:avLst/>
          </a:prstGeom>
          <a:solidFill>
            <a:srgbClr val="DDE4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071616" y="3638398"/>
            <a:ext cx="1097280" cy="73152"/>
          </a:xfrm>
          <a:prstGeom prst="rect">
            <a:avLst/>
          </a:prstGeom>
          <a:solidFill>
            <a:srgbClr val="C4C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071616" y="3766414"/>
            <a:ext cx="658368" cy="54864"/>
          </a:xfrm>
          <a:prstGeom prst="rect">
            <a:avLst/>
          </a:prstGeom>
          <a:solidFill>
            <a:srgbClr val="D8DE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650992" y="4004158"/>
            <a:ext cx="1636776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5DB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724144" y="4068166"/>
            <a:ext cx="274320" cy="256032"/>
          </a:xfrm>
          <a:prstGeom prst="rect">
            <a:avLst/>
          </a:prstGeom>
          <a:solidFill>
            <a:srgbClr val="DDE4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6071616" y="4095598"/>
            <a:ext cx="1097280" cy="73152"/>
          </a:xfrm>
          <a:prstGeom prst="rect">
            <a:avLst/>
          </a:prstGeom>
          <a:solidFill>
            <a:srgbClr val="C4C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6071616" y="4223614"/>
            <a:ext cx="658368" cy="54864"/>
          </a:xfrm>
          <a:prstGeom prst="rect">
            <a:avLst/>
          </a:prstGeom>
          <a:solidFill>
            <a:srgbClr val="D8DE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650992" y="4461358"/>
            <a:ext cx="1636776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5DB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724144" y="4525366"/>
            <a:ext cx="274320" cy="256032"/>
          </a:xfrm>
          <a:prstGeom prst="rect">
            <a:avLst/>
          </a:prstGeom>
          <a:solidFill>
            <a:srgbClr val="DDE4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6071616" y="4552798"/>
            <a:ext cx="1097280" cy="73152"/>
          </a:xfrm>
          <a:prstGeom prst="rect">
            <a:avLst/>
          </a:prstGeom>
          <a:solidFill>
            <a:srgbClr val="C4CC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6071616" y="4680814"/>
            <a:ext cx="658368" cy="54864"/>
          </a:xfrm>
          <a:prstGeom prst="rect">
            <a:avLst/>
          </a:prstGeom>
          <a:solidFill>
            <a:srgbClr val="D8DE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5394960" y="6080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펼침 (full)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257800" y="6400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목록 전체화면. 지도는 상단에 얇게.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818120" y="1965960"/>
            <a:ext cx="3840480" cy="4023360"/>
          </a:xfrm>
          <a:prstGeom prst="roundRect">
            <a:avLst>
              <a:gd name="adj" fmla="val 1429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809244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동작 규칙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092440" y="2697480"/>
            <a:ext cx="118872" cy="118872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8321040" y="26060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 상단 증거/통계 탭으로 전환 (데스크톱과 동일)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092440" y="3355848"/>
            <a:ext cx="118872" cy="118872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8321040" y="32644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탭 선택 시 시트 자동 full 전환 (차트 공간 확보)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092440" y="4014216"/>
            <a:ext cx="118872" cy="118872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8321040" y="392277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마커 탭 → 시트가 half로 올라오며 해당 투표소로 필터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8092440" y="4672584"/>
            <a:ext cx="118872" cy="118872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8321040" y="458114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 위로 드래그 → full, 아래로 → peek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092440" y="5330952"/>
            <a:ext cx="118872" cy="118872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8321040" y="52395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탭 → L3 증거 상세(전체화면 오버레이)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증거 카드 메타데이터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65760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1188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식별 · 위치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evidence_id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752344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고유 식별자 · URL 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30723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region_wide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331012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광역 코드/명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363016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region_basic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386791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코드/명 (집적 키)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418795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polling_station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4672" y="442569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투표소명 (필터 축)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474573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coordinates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498348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마커 좌표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1737360"/>
            <a:ext cx="3611880" cy="365760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343400" y="1737360"/>
            <a:ext cx="3611880" cy="566928"/>
          </a:xfrm>
          <a:prstGeom prst="roundRect">
            <a:avLst>
              <a:gd name="adj" fmla="val 9677"/>
            </a:avLst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343400" y="2011680"/>
            <a:ext cx="3611880" cy="292608"/>
          </a:xfrm>
          <a:prstGeom prst="rect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617720" y="17373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콘텐츠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99432" y="251460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6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99432" y="2752344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 제목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99432" y="30723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6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evidence_type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99432" y="331012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사진/영상/문서/증언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9432" y="363016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6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media[]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99432" y="386791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사진·영상 경로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9432" y="418795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6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99432" y="442569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본문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99432" y="474573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6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occurred_at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99432" y="498348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 일시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1737360"/>
            <a:ext cx="3611880" cy="365760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138160" y="1737360"/>
            <a:ext cx="3611880" cy="566928"/>
          </a:xfrm>
          <a:prstGeom prst="roundRect">
            <a:avLst>
              <a:gd name="adj" fmla="val 9677"/>
            </a:avLst>
          </a:prstGeom>
          <a:solidFill>
            <a:srgbClr val="3B4A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138160" y="2011680"/>
            <a:ext cx="3611880" cy="292608"/>
          </a:xfrm>
          <a:prstGeom prst="rect">
            <a:avLst/>
          </a:prstGeom>
          <a:solidFill>
            <a:srgbClr val="3B4A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8412480" y="17373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출처 · 태그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94192" y="251460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394192" y="2752344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언론/제보/공식/NEC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94192" y="30723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source_url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394192" y="331012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링크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94192" y="363016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event_tags[]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394192" y="386791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사건 태그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5778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22960" y="5806440"/>
            <a:ext cx="274320" cy="274320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22960" y="5788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234440" y="55778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증거만 등재  </a:t>
            </a: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검증 상태 필드·배지는 두지 않는다. 신뢰는 출처(source·source_url) 노출로 담보한다.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EVIDENCE / STATISTICS TAB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증거 탭 · 통계 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상단 탭으로 두 성격의 데이터를 분리한다. 기본은 증거, 통계는 선택적으로 연다 — 지도 이원화 없이 탭 안에서만 통계가 산다.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9050">
            <a:solidFill>
              <a:srgbClr val="2C6E8F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371600" cy="365760"/>
          </a:xfrm>
          <a:prstGeom prst="rect">
            <a:avLst/>
          </a:prstGeom>
          <a:solidFill>
            <a:srgbClr val="2C6E8F"/>
          </a:solidFill>
          <a:ln w="9525">
            <a:solidFill>
              <a:srgbClr val="2C6E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 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23317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· 아카이브 본령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017520"/>
            <a:ext cx="109728" cy="109728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926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+ 증거 카드 목록 (4페이지 화면)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520440"/>
            <a:ext cx="109728" cy="109728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투표소 마커 ↔ 카드 연동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023360"/>
            <a:ext cx="109728" cy="109728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유형·투표소 필터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526280"/>
            <a:ext cx="109728" cy="109728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97280" y="4434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클릭 → L3 증거 상세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205740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446520" y="2331720"/>
            <a:ext cx="1371600" cy="365760"/>
          </a:xfrm>
          <a:prstGeom prst="rect">
            <a:avLst/>
          </a:prstGeom>
          <a:solidFill>
            <a:srgbClr val="3B4A6B"/>
          </a:solidFill>
          <a:ln w="9525">
            <a:solidFill>
              <a:srgbClr val="3B4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9224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0" y="23317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· 지역 지표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3017520"/>
            <a:ext cx="109728" cy="109728"/>
          </a:xfrm>
          <a:prstGeom prst="ellipse">
            <a:avLst/>
          </a:prstGeom>
          <a:solidFill>
            <a:srgbClr val="3B4A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720840" y="2926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통계 요약 수치 + 차트/표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3520440"/>
            <a:ext cx="109728" cy="109728"/>
          </a:xfrm>
          <a:prstGeom prst="ellipse">
            <a:avLst/>
          </a:prstGeom>
          <a:solidFill>
            <a:srgbClr val="3B4A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720840" y="3429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전면 코로플레스는 두지 않음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4023360"/>
            <a:ext cx="109728" cy="109728"/>
          </a:xfrm>
          <a:prstGeom prst="ellipse">
            <a:avLst/>
          </a:prstGeom>
          <a:solidFill>
            <a:srgbClr val="3B4A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720840" y="39319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 탭과 독립된 데이터셋(region 단위)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4526280"/>
            <a:ext cx="109728" cy="109728"/>
          </a:xfrm>
          <a:prstGeom prst="ellipse">
            <a:avLst/>
          </a:prstGeom>
          <a:solidFill>
            <a:srgbClr val="3B4A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720840" y="4434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 종류는 추후 확정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22960" y="553212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 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정체성은 아카이브에 둔다. 통계는 확장 옵션이며, 기본 진입 시 항상 증거 탭이 먼저 보인다.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MOBILE INSTANT ACCESS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· 위치기반 접근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서비스의 핵심 목적: 현장에서 모바일로 바로 확인. 두 진입 경로를 둔다.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→ 메인(L0)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108960"/>
            <a:ext cx="12344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8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05840" y="3200400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16152" y="3200400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636776" y="3200400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05840" y="3410712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426464" y="3410712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847088" y="3410712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216152" y="3621024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636776" y="3621024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847088" y="3621024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05840" y="3831336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426464" y="3831336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216152" y="4041648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636776" y="4041648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847088" y="4041648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847088" y="3200400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05840" y="4041648"/>
            <a:ext cx="182880" cy="182880"/>
          </a:xfrm>
          <a:prstGeom prst="rect">
            <a:avLst/>
          </a:prstGeom>
          <a:solidFill>
            <a:srgbClr val="2228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377440" y="31089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현장(투표소·집회 등)에 부착된 QR은 특정 지역이 아니라 서비스 메인으로 유도한다. 사용자가 들어와 직접 탐색하거나 위치기반으로 이동.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2057400"/>
            <a:ext cx="544068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492240" y="2377440"/>
            <a:ext cx="457200" cy="457200"/>
          </a:xfrm>
          <a:prstGeom prst="ellipse">
            <a:avLst/>
          </a:prstGeom>
          <a:solidFill>
            <a:srgbClr val="2C6E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922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086600" y="24231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위치기반 · 내 주변 증거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629400" y="3154680"/>
            <a:ext cx="1188720" cy="1188720"/>
          </a:xfrm>
          <a:prstGeom prst="ellipse">
            <a:avLst/>
          </a:prstGeom>
          <a:solidFill>
            <a:srgbClr val="EAF2F6"/>
          </a:solidFill>
          <a:ln w="12700">
            <a:solidFill>
              <a:srgbClr val="2C6E8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132320" y="3657600"/>
            <a:ext cx="182880" cy="182880"/>
          </a:xfrm>
          <a:prstGeom prst="ellipse">
            <a:avLst/>
          </a:prstGeom>
          <a:solidFill>
            <a:srgbClr val="2C6E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830568" y="342900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498080" y="388620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8001000" y="31546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권한을 허용하면 현재 좌표 반경 내 증거를 지도·목록으로 표시. coordinates 필드로 반경 검색. 옵트인이며, 거부해도 정상 사용 가능.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↔ 온라인  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QR은 현장을 사이트로 잇는 진입점, 위치기반은 “지금 여기”의 증거를 즉시 보여주는 장치.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 로드맵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658368" cy="658368"/>
          </a:xfrm>
          <a:prstGeom prst="ellipse">
            <a:avLst/>
          </a:prstGeom>
          <a:solidFill>
            <a:srgbClr val="2C6E8F"/>
          </a:solidFill>
          <a:ln w="1905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55648" y="184708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스키마 확정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55648" y="2194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메타데이터를 JSON/DB 스키마로 고정 · 샘플 3–5건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596896"/>
            <a:ext cx="658368" cy="658368"/>
          </a:xfrm>
          <a:prstGeom prst="ellipse">
            <a:avLst/>
          </a:prstGeom>
          <a:solidFill>
            <a:srgbClr val="2C6E8F"/>
          </a:solidFill>
          <a:ln w="1905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596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55648" y="261518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지도 라이브러리 선정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55648" y="296265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행정경계 GeoJSON 확보 + Leaflet/MapLibre 비교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364992"/>
            <a:ext cx="658368" cy="658368"/>
          </a:xfrm>
          <a:prstGeom prst="ellipse">
            <a:avLst/>
          </a:prstGeom>
          <a:solidFill>
            <a:srgbClr val="2C6E8F"/>
          </a:solidFill>
          <a:ln w="1905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2960" y="3364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55648" y="338328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프로토타입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55648" y="37307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지도+마커↔카드 인터랙션을 동작 코드로 검증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133088"/>
            <a:ext cx="658368" cy="658368"/>
          </a:xfrm>
          <a:prstGeom prst="ellipse">
            <a:avLst/>
          </a:prstGeom>
          <a:solidFill>
            <a:srgbClr val="2C6E8F"/>
          </a:solidFill>
          <a:ln w="1905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4133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55648" y="415137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디자인 시스템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55648" y="44988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색·타이포·배지·카드 컴포넌트 토큰 정의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901184"/>
            <a:ext cx="658368" cy="658368"/>
          </a:xfrm>
          <a:prstGeom prst="ellipse">
            <a:avLst/>
          </a:prstGeom>
          <a:solidFill>
            <a:srgbClr val="2C6E8F"/>
          </a:solidFill>
          <a:ln w="1905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22960" y="49011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55648" y="491947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반응형 구현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55648" y="526694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데스크톱 2단 → 모바일 bottom sheet 전환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0" y="1828800"/>
            <a:ext cx="3383280" cy="4160520"/>
          </a:xfrm>
          <a:prstGeom prst="roundRect">
            <a:avLst>
              <a:gd name="adj" fmla="val 1622"/>
            </a:avLst>
          </a:prstGeom>
          <a:solidFill>
            <a:srgbClr val="27305F"/>
          </a:solidFill>
          <a:ln w="12700">
            <a:solidFill>
              <a:srgbClr val="2C6E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503920" y="2057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90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확정 필요 (오픈 이슈)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 rot="2700000">
            <a:off x="8503920" y="2542032"/>
            <a:ext cx="100584" cy="100584"/>
          </a:xfrm>
          <a:prstGeom prst="rect">
            <a:avLst/>
          </a:prstGeom>
          <a:solidFill>
            <a:srgbClr val="4A90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732520" y="24414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D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행정경계 GeoJSON 출처 (SGIS/공공데이터)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2700000">
            <a:off x="8503920" y="3090672"/>
            <a:ext cx="100584" cy="100584"/>
          </a:xfrm>
          <a:prstGeom prst="rect">
            <a:avLst/>
          </a:prstGeom>
          <a:solidFill>
            <a:srgbClr val="4A90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732520" y="29900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D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 등록 방식 (정적 vs 관리자 입력)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rot="2700000">
            <a:off x="8503920" y="3639312"/>
            <a:ext cx="100584" cy="100584"/>
          </a:xfrm>
          <a:prstGeom prst="rect">
            <a:avLst/>
          </a:prstGeom>
          <a:solidFill>
            <a:srgbClr val="4A90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732520" y="35387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D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 저장 (직접 저장 vs 외부 임베드)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rot="2700000">
            <a:off x="8503920" y="4187952"/>
            <a:ext cx="100584" cy="100584"/>
          </a:xfrm>
          <a:prstGeom prst="rect">
            <a:avLst/>
          </a:prstGeom>
          <a:solidFill>
            <a:srgbClr val="4A90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732520" y="4087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D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탭 지표 확정 (종류·차트)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rot="2700000">
            <a:off x="8503920" y="4736592"/>
            <a:ext cx="100584" cy="100584"/>
          </a:xfrm>
          <a:prstGeom prst="rect">
            <a:avLst/>
          </a:prstGeom>
          <a:solidFill>
            <a:srgbClr val="4A90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8732520" y="4636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D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위치기반 반경·정밀도 정책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 rot="2700000">
            <a:off x="8503920" y="5285232"/>
            <a:ext cx="100584" cy="100584"/>
          </a:xfrm>
          <a:prstGeom prst="rect">
            <a:avLst/>
          </a:prstGeom>
          <a:solidFill>
            <a:srgbClr val="4A90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732520" y="51846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D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밀도 표현 (채도/버블/숫자)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Microsoft Office PowerPoint</Application>
  <PresentationFormat>와이드스크린</PresentationFormat>
  <Paragraphs>185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선거 증거 아카이브 — 기획안</dc:title>
  <dc:subject>PptxGenJS Presentation</dc:subject>
  <dc:creator>Henry Yoon</dc:creator>
  <cp:lastModifiedBy>희승 윤</cp:lastModifiedBy>
  <cp:revision>2</cp:revision>
  <dcterms:created xsi:type="dcterms:W3CDTF">2026-07-05T08:42:39Z</dcterms:created>
  <dcterms:modified xsi:type="dcterms:W3CDTF">2026-07-05T08:51:37Z</dcterms:modified>
</cp:coreProperties>
</file>